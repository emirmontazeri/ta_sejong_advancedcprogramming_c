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2" r:id="rId3"/>
    <p:sldId id="259" r:id="rId4"/>
    <p:sldId id="305" r:id="rId5"/>
    <p:sldId id="306" r:id="rId6"/>
    <p:sldId id="295" r:id="rId7"/>
    <p:sldId id="308" r:id="rId8"/>
    <p:sldId id="307" r:id="rId9"/>
    <p:sldId id="309" r:id="rId10"/>
    <p:sldId id="310" r:id="rId11"/>
    <p:sldId id="311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60B3E0-4132-4417-BE3A-6DD8128121AB}" v="1" dt="2026-04-30T10:13:25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azeri Amirmohammad" userId="14ff55ea-1130-4eaf-8ccc-034b5b7c25f7" providerId="ADAL" clId="{350A065B-EB90-46D0-BEBC-19D9BCE43320}"/>
    <pc:docChg chg="undo redo custSel addSld delSld modSld sldOrd modMainMaster">
      <pc:chgData name="Montazeri Amirmohammad" userId="14ff55ea-1130-4eaf-8ccc-034b5b7c25f7" providerId="ADAL" clId="{350A065B-EB90-46D0-BEBC-19D9BCE43320}" dt="2026-04-30T10:13:25.199" v="6990" actId="207"/>
      <pc:docMkLst>
        <pc:docMk/>
      </pc:docMkLst>
      <pc:sldChg chg="modSp mod">
        <pc:chgData name="Montazeri Amirmohammad" userId="14ff55ea-1130-4eaf-8ccc-034b5b7c25f7" providerId="ADAL" clId="{350A065B-EB90-46D0-BEBC-19D9BCE43320}" dt="2026-04-30T10:13:25.199" v="6990" actId="207"/>
        <pc:sldMkLst>
          <pc:docMk/>
          <pc:sldMk cId="3781266718" sldId="293"/>
        </pc:sldMkLst>
        <pc:spChg chg="mod">
          <ac:chgData name="Montazeri Amirmohammad" userId="14ff55ea-1130-4eaf-8ccc-034b5b7c25f7" providerId="ADAL" clId="{350A065B-EB90-46D0-BEBC-19D9BCE43320}" dt="2026-04-30T10:13:25.199" v="6990" actId="207"/>
          <ac:spMkLst>
            <pc:docMk/>
            <pc:sldMk cId="3781266718" sldId="293"/>
            <ac:spMk id="2" creationId="{93FA8A7F-7734-36D3-FBB8-077DD48778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014370-FE23-6AAA-F12C-53C239EB0E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D0E05-18EC-BAD5-AC73-115AD578A4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3D688-CDCD-40D6-8D99-17C7F9C82E44}" type="datetimeFigureOut">
              <a:rPr lang="en-US" smtClean="0"/>
              <a:t>05/28/2026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66B6-B43B-4605-889E-21DF726CA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8DFEA-EDD2-DF39-6451-02888723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D42E-86FA-4BE6-A1E5-231700EA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43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0476-D9A3-4351-BE9E-633314562564}" type="datetimeFigureOut">
              <a:rPr lang="en-US" smtClean="0"/>
              <a:t>05/28/2026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E215F-F957-4717-86A2-D610F1C4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336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EDEF-9F97-C45E-2FD2-5DE332D7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A9C1-4BB0-AAEA-332D-59780D449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4AB24-D3E6-9E8F-9DF5-20217947B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4A57-1BF4-D5FA-286C-391162417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E215F-F957-4717-86A2-D610F1C493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FA2F-D2CF-4BB9-2DA2-E136981A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9EBBB-2C00-DCB0-5348-C55BD0127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BEB7-C62F-7829-DFE5-99A5BE1E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A25F-4DC2-48EB-82DE-0FBE2AB3653A}" type="datetime1">
              <a:rPr lang="en-US" smtClean="0"/>
              <a:t>05/28/2026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01BD-CCEC-049C-E7B8-BAE65F28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D1A2-8628-A003-E1D1-75806351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8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9716-26CD-9773-616F-F110B698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293F-17B0-3DE3-0900-C263C8A44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D940-2D70-7991-1527-15126FAA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B91E-718A-4F53-B81B-F9CD24557603}" type="datetime1">
              <a:rPr lang="en-US" smtClean="0"/>
              <a:t>05/28/2026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0F9D-EC24-6B75-D8F8-56478F9C7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F20F-230B-0F69-BFDB-AA5AE3D9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638F-4126-33E3-6988-6802FD74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7BD8-2DE4-DDFF-8EB6-ED8B217E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8059D-13D0-8A8A-1D73-A484AD20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6E11C-E838-44BB-ADC4-499736FB2695}" type="datetime1">
              <a:rPr lang="en-US" smtClean="0"/>
              <a:t>05/28/2026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283ED-809D-AFE7-E8D7-FF5037F8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DBC9-9611-97D2-3E5F-B6582D62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836E-5F5A-B572-BF9C-9EC3A00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1918-2F18-701A-4C07-1EA5F1C8F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1767B-1DC3-10F5-C743-8A8B8C26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EC9EA-E180-D8B2-B0C2-49B94B6D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1FAA-0B0F-4B4E-89F4-3728EC90C4CD}" type="datetime1">
              <a:rPr lang="en-US" smtClean="0"/>
              <a:t>05/28/2026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7B83-6709-033B-6A07-77110A7B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D1F3-2581-73B4-9EF1-C64C804B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9007-C5C8-86B4-027A-FAA48AD6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F610-76E7-C34C-6223-DC7A3A180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E3D14-C058-F41F-B797-488342D59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0312F-3365-38C0-57E3-2865CF224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4681E-0CA1-B3B6-D58C-6C6023343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3B5A3-0743-03F6-8DF7-BB6AB934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4CD6-C7A3-4C1B-846B-6E5EE448C234}" type="datetime1">
              <a:rPr lang="en-US" smtClean="0"/>
              <a:t>05/28/2026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9E81B-BF0A-B9A4-425E-D36CD81D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D55DF-8867-ACA8-7A1B-08196BF0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1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EF58-DED1-6647-1CDA-EB885A41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604C-F114-5D56-A1A9-25E07AD7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E4F83-737B-4E80-B64E-63FD7F6A586D}" type="datetime1">
              <a:rPr lang="en-US" smtClean="0"/>
              <a:t>05/28/2026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94468-CC8D-2C3E-42C1-255F87CB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7A943-86CE-554F-3E41-78982717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2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59D68-0DCD-6660-B024-592B90AB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8FF1-2C3C-4660-8756-7903723A2E99}" type="datetime1">
              <a:rPr lang="en-US" smtClean="0"/>
              <a:t>05/28/2026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4EB17-7591-72C7-29FF-C747C011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4D72-80D2-8034-E542-2BC643BD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3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03FD-85BD-E9A7-CFC3-B33885BE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240E-D1E6-C97D-CF69-92202191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2218-B6CB-1D2F-92C5-A157FD33F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60CEF-8935-ADD7-B82D-325A9B89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55E2-DF5C-4DE8-BAC2-83ED0F396B1E}" type="datetime1">
              <a:rPr lang="en-US" smtClean="0"/>
              <a:t>05/28/2026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64E7-C40E-B802-4173-0A0FCA34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C64F-BE04-16BF-BA64-B7816BAB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0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812E-94DB-D195-A675-E7C5392D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C6254-267D-361D-2A58-DBA9F497C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5535-1603-AFF7-68A7-B74A3CA6C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FF21-86D8-1823-45A6-76046A79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6505-4A08-4EFB-907F-79A3F3BF9362}" type="datetime1">
              <a:rPr lang="en-US" smtClean="0"/>
              <a:t>05/28/2026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DDDAC-374E-B18D-3A51-CAF6A16D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3912D-5B74-B297-D35F-BC3BC570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ADB8-A463-C78D-BFF3-4E94F3B5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8E275-5E2C-21EA-D6FF-D87CC419D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B4053-7240-C364-F278-1A2C72A6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662E-0996-4F59-8042-5BFA47CDD579}" type="datetime1">
              <a:rPr lang="en-US" smtClean="0"/>
              <a:t>05/28/2026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90CBA-538A-329A-1165-F4C690E2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7197-6C2A-1FB7-C549-B767586B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5A084-03CE-D556-3471-58A9B2F8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C678A-FBCA-2DBD-0C07-08FB0D5B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4A49-F368-933F-2E0F-FABD2AC8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9D92-80B7-4444-AB62-E6AB746E2766}" type="datetime1">
              <a:rPr lang="en-US" smtClean="0"/>
              <a:t>05/28/2026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127B8-5AC2-C1D5-1986-CA0FD19C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B8D0-DDD2-3983-65B8-61B82A6A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88D84-8D03-F415-3049-ACFA8439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CBF9C-F525-8FFB-C15A-D1983DDF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7A10-92BF-0848-BE73-5441B664E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09AF7-E675-443A-94D6-8B496A197A41}" type="datetime1">
              <a:rPr lang="en-US" smtClean="0"/>
              <a:t>05/28/2026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38F-6EEB-21B5-421E-4F6EACD8F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65D7E-5B89-37D3-5268-53D337DA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programming666@gmail.com" TargetMode="External"/><Relationship Id="rId4" Type="http://schemas.openxmlformats.org/officeDocument/2006/relationships/hyperlink" Target="https://www.geeksforgeek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B141-0470-96EA-DF32-17B31B653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2400"/>
            <a:ext cx="9144000" cy="1473200"/>
          </a:xfrm>
        </p:spPr>
        <p:txBody>
          <a:bodyPr anchor="ctr">
            <a:noAutofit/>
          </a:bodyPr>
          <a:lstStyle/>
          <a:p>
            <a:r>
              <a:rPr lang="en-US" sz="4800">
                <a:latin typeface="Verdana Pro Black" panose="020F0502020204030204" pitchFamily="34" charset="0"/>
              </a:rPr>
              <a:t>Advanced</a:t>
            </a:r>
            <a:br>
              <a:rPr lang="en-US" sz="4800">
                <a:latin typeface="Verdana Pro Black" panose="020F0502020204030204" pitchFamily="34" charset="0"/>
              </a:rPr>
            </a:br>
            <a:r>
              <a:rPr lang="en-US" sz="4800">
                <a:latin typeface="Verdana Pro Black" panose="020F0502020204030204" pitchFamily="34" charset="0"/>
              </a:rPr>
              <a:t> C Programming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21C20-BBB1-22DC-0A22-038CB58D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Verdana Pro" panose="020B0604030504040204" pitchFamily="34" charset="0"/>
              </a:rPr>
              <a:t>Session X – May 28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21C8A-5A7E-A0E8-BCEC-2A37DEF58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7" y="238125"/>
            <a:ext cx="903288" cy="9032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690442-3261-1A1F-7B33-E54B0AAFE41B}"/>
              </a:ext>
            </a:extLst>
          </p:cNvPr>
          <p:cNvCxnSpPr>
            <a:cxnSpLocks/>
          </p:cNvCxnSpPr>
          <p:nvPr/>
        </p:nvCxnSpPr>
        <p:spPr>
          <a:xfrm>
            <a:off x="1485900" y="-243353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6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FC38-B0C7-0757-1ECB-3DFE83D6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5F63E-E236-23D1-489B-5BF203B5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5771C-D586-5080-1F1B-04DE4A30EB0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0DA163-1B47-096E-3B9F-795E73EB6868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BBE753-0289-EB2E-8BAD-69F4391665D6}"/>
              </a:ext>
            </a:extLst>
          </p:cNvPr>
          <p:cNvSpPr txBox="1"/>
          <p:nvPr/>
        </p:nvSpPr>
        <p:spPr>
          <a:xfrm>
            <a:off x="972670" y="2405643"/>
            <a:ext cx="10246659" cy="20467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 topic we will be covering today are;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 Function Pointers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 Callback Functions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88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47AA-E49D-FFF5-FD5D-8D79ECCE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E6AFF-71A0-0546-A7B0-FFD97EB4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F9E5A-C940-109C-4491-AD8C444E11C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4313A4-35DF-EF5A-EED5-51781829009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3433FA-FF52-6BA9-1CEA-ED7D78F8DE0C}"/>
              </a:ext>
            </a:extLst>
          </p:cNvPr>
          <p:cNvSpPr txBox="1"/>
          <p:nvPr/>
        </p:nvSpPr>
        <p:spPr>
          <a:xfrm>
            <a:off x="972669" y="646331"/>
            <a:ext cx="10246659" cy="55707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function pointer is like a normal pointer, but instead of pointing to a variable, it points to a function which means it stores the address of a function. This allows us to call that function using the pointer.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 let you decide which function to run while the program is running, or when you want to pass a function as an argument to another function.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simple example would a saved phone number; the pointer knows where the function lives in memory, so you can "call" it on demand.</a:t>
            </a:r>
          </a:p>
        </p:txBody>
      </p:sp>
    </p:spTree>
    <p:extLst>
      <p:ext uri="{BB962C8B-B14F-4D97-AF65-F5344CB8AC3E}">
        <p14:creationId xmlns:p14="http://schemas.microsoft.com/office/powerpoint/2010/main" val="2150158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1D4F-D3C5-7A21-2289-C6F67252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7975D-8D07-0A7C-84AF-66B84EE3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0CF6B-7191-C8E7-A9FC-B24425877C45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EA187F-D881-BC6B-CD1F-681FF2F01A5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D9038D-274A-E376-2EBA-A772188B15B5}"/>
              </a:ext>
            </a:extLst>
          </p:cNvPr>
          <p:cNvSpPr txBox="1"/>
          <p:nvPr/>
        </p:nvSpPr>
        <p:spPr>
          <a:xfrm>
            <a:off x="243167" y="820593"/>
            <a:ext cx="11705665" cy="52168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 declare a function pointer;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returnType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(*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pointerName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)(parameterType1, parameterType2,...);</a:t>
            </a:r>
            <a:endParaRPr lang="en-US" sz="24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	Like: </a:t>
            </a:r>
            <a:r>
              <a:rPr lang="en-US" sz="2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(*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ptr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)(</a:t>
            </a:r>
            <a:r>
              <a:rPr lang="en-US" sz="2400" dirty="0">
                <a:solidFill>
                  <a:schemeClr val="accent1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, </a:t>
            </a:r>
            <a:r>
              <a:rPr lang="en-US" sz="2400" dirty="0">
                <a:solidFill>
                  <a:schemeClr val="accent1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This means 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ptr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is a pointer to a function that takes two </a:t>
            </a:r>
            <a:r>
              <a:rPr lang="en-US" sz="2400" dirty="0">
                <a:solidFill>
                  <a:schemeClr val="accent1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values and returns an int.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4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Because a function pointer’s name already represents its address in memory, a function can be assigned to a pointer in either ways below;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ptr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= add;  == 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ptr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= &amp;add;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4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And to call an assigned function;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l-PL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ptr(5, 3);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== </a:t>
            </a:r>
            <a:r>
              <a:rPr lang="pl-PL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(*ptr)(5, 3);</a:t>
            </a:r>
            <a:endParaRPr lang="en-US" sz="24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947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A5C4-7B72-0930-60DA-9D995F6E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F05BD-8D5F-71EB-8057-786AD581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0E008-B76C-6D97-4604-85A394BE81F4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D38129-32F4-7F0E-BCAA-9EA10E471A3F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E1507C-681F-D883-B0FD-0068EFF4EF7A}"/>
              </a:ext>
            </a:extLst>
          </p:cNvPr>
          <p:cNvSpPr txBox="1"/>
          <p:nvPr/>
        </p:nvSpPr>
        <p:spPr>
          <a:xfrm>
            <a:off x="243166" y="646331"/>
            <a:ext cx="11705665" cy="44781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#include &lt;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stdio.h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solidFill>
                  <a:srgbClr val="C00000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 sum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</a:t>
            </a:r>
            <a:r>
              <a:rPr lang="en-US" sz="2400" dirty="0">
                <a:solidFill>
                  <a:srgbClr val="C00000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a, </a:t>
            </a:r>
            <a:r>
              <a:rPr lang="en-US" sz="2400" dirty="0">
                <a:solidFill>
                  <a:srgbClr val="C00000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b)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 </a:t>
            </a:r>
            <a:r>
              <a:rPr lang="en-US" sz="2400" dirty="0">
                <a:solidFill>
                  <a:schemeClr val="accent1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return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a + b;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solidFill>
                  <a:srgbClr val="C00000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 main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 int (*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ptr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)(</a:t>
            </a:r>
            <a:r>
              <a:rPr lang="en-US" sz="2400" dirty="0">
                <a:solidFill>
                  <a:srgbClr val="C00000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, </a:t>
            </a:r>
            <a:r>
              <a:rPr lang="en-US" sz="2400" dirty="0">
                <a:solidFill>
                  <a:srgbClr val="C00000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int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) = sum;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 int result = 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ptr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(7, 3);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 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printf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("Result: %d", result);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 </a:t>
            </a:r>
            <a:r>
              <a:rPr lang="en-US" sz="2400" dirty="0">
                <a:solidFill>
                  <a:schemeClr val="accent1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return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FD5834-4B85-FF17-3811-5C193F3B2D9C}"/>
              </a:ext>
            </a:extLst>
          </p:cNvPr>
          <p:cNvSpPr txBox="1"/>
          <p:nvPr/>
        </p:nvSpPr>
        <p:spPr>
          <a:xfrm>
            <a:off x="7544210" y="2016614"/>
            <a:ext cx="3721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Output: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latin typeface="Helvetica" pitchFamily="2" charset="0"/>
              </a:rPr>
              <a:t>Result: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F5C6A-100D-B1DF-5672-43D48E32589F}"/>
              </a:ext>
            </a:extLst>
          </p:cNvPr>
          <p:cNvSpPr txBox="1"/>
          <p:nvPr/>
        </p:nvSpPr>
        <p:spPr>
          <a:xfrm>
            <a:off x="1006575" y="5247251"/>
            <a:ext cx="10178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Declaring a function pointer just gives you a variable that can hold that address - so you can change it or pass it around.</a:t>
            </a:r>
          </a:p>
        </p:txBody>
      </p:sp>
    </p:spTree>
    <p:extLst>
      <p:ext uri="{BB962C8B-B14F-4D97-AF65-F5344CB8AC3E}">
        <p14:creationId xmlns:p14="http://schemas.microsoft.com/office/powerpoint/2010/main" val="4232112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43BAA-78C0-9242-0842-5C2E38D1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32121-B33B-B2B6-8ABD-171F670A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6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4B5F07-A8D2-4EF0-251A-A3C45A275C9F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590AFC-2718-DAC4-A808-4150BC9E66E2}"/>
              </a:ext>
            </a:extLst>
          </p:cNvPr>
          <p:cNvSpPr txBox="1"/>
          <p:nvPr/>
        </p:nvSpPr>
        <p:spPr>
          <a:xfrm>
            <a:off x="83301" y="646331"/>
            <a:ext cx="12025396" cy="9079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 can also be passed to other functions - which is called a </a:t>
            </a:r>
            <a:r>
              <a:rPr lang="en-US" sz="24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callback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This allows a function to call another function that you provide as input.</a:t>
            </a:r>
            <a:endParaRPr lang="en-US" sz="24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4719D-0EDC-05D0-A070-E2C7E3939A0D}"/>
              </a:ext>
            </a:extLst>
          </p:cNvPr>
          <p:cNvSpPr txBox="1"/>
          <p:nvPr/>
        </p:nvSpPr>
        <p:spPr>
          <a:xfrm>
            <a:off x="-20056" y="1554272"/>
            <a:ext cx="121087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r>
              <a:rPr lang="en-US" sz="240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400" dirty="0" err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greetMorning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 </a:t>
            </a:r>
            <a:r>
              <a:rPr lang="en-US" sz="2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("Good morning!\n"); }</a:t>
            </a:r>
          </a:p>
          <a:p>
            <a:r>
              <a:rPr lang="en-US" sz="240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400" dirty="0" err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greetEvening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 </a:t>
            </a:r>
            <a:r>
              <a:rPr lang="en-US" sz="2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("Good evening!\n"); }</a:t>
            </a:r>
          </a:p>
          <a:p>
            <a:r>
              <a:rPr lang="en-US" sz="240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greet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40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(*</a:t>
            </a:r>
            <a:r>
              <a:rPr lang="en-US" sz="2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func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)()) {</a:t>
            </a:r>
          </a:p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func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();</a:t>
            </a:r>
          </a:p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greet(</a:t>
            </a:r>
            <a:r>
              <a:rPr lang="en-US" sz="2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greetMorning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greet(</a:t>
            </a:r>
            <a:r>
              <a:rPr lang="en-US" sz="2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greetEvening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  <a:endParaRPr lang="en-US" sz="240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0A786-65A8-7D1C-B896-D91EB43E846A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5740B-E199-4F1C-C965-47EF8F83B5C1}"/>
              </a:ext>
            </a:extLst>
          </p:cNvPr>
          <p:cNvSpPr txBox="1"/>
          <p:nvPr/>
        </p:nvSpPr>
        <p:spPr>
          <a:xfrm>
            <a:off x="8121650" y="2967430"/>
            <a:ext cx="3721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Output: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latin typeface="Helvetica" pitchFamily="2" charset="0"/>
              </a:rPr>
              <a:t>Good morning!</a:t>
            </a:r>
          </a:p>
          <a:p>
            <a:r>
              <a:rPr lang="en-US" sz="2400" dirty="0">
                <a:latin typeface="Helvetica" pitchFamily="2" charset="0"/>
              </a:rPr>
              <a:t>Good evening!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CA31AB-CD94-9992-7713-CD2E82A789AB}"/>
              </a:ext>
            </a:extLst>
          </p:cNvPr>
          <p:cNvSpPr txBox="1"/>
          <p:nvPr/>
        </p:nvSpPr>
        <p:spPr>
          <a:xfrm>
            <a:off x="1006577" y="5378574"/>
            <a:ext cx="10178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In this case out 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greet() </a:t>
            </a:r>
            <a:r>
              <a:rPr lang="en-US" sz="2400" dirty="0">
                <a:latin typeface="Helvetica" pitchFamily="2" charset="0"/>
              </a:rPr>
              <a:t>takes another function as a parameter and calls it. This is commonly used in event-driven programs or libraries that need user-provided callback functions.</a:t>
            </a:r>
          </a:p>
        </p:txBody>
      </p:sp>
    </p:spTree>
    <p:extLst>
      <p:ext uri="{BB962C8B-B14F-4D97-AF65-F5344CB8AC3E}">
        <p14:creationId xmlns:p14="http://schemas.microsoft.com/office/powerpoint/2010/main" val="1110335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F1D7D-9E9E-A396-3840-61F308BC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7DD6F-AB9F-5E66-5703-A6462256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7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75D272-3A34-528D-93EE-895A62D7BB0E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37DBAF-3433-2B23-ABE5-75FBAF2A8540}"/>
              </a:ext>
            </a:extLst>
          </p:cNvPr>
          <p:cNvSpPr txBox="1"/>
          <p:nvPr/>
        </p:nvSpPr>
        <p:spPr>
          <a:xfrm>
            <a:off x="784601" y="859067"/>
            <a:ext cx="10622798" cy="51398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 can also store several function pointers inside an array, so that we can choose which function to run while the program is running. 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This is often used for simple menus, command lists, or calculators - anywhere you want to call different functions based on user input.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great example of this would be a simple calculator that is provided with the inputs, but the user decides the action that program will run.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FE8BB-25B7-0027-14B8-F7DC437AA259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</a:t>
            </a:r>
          </a:p>
        </p:txBody>
      </p:sp>
    </p:spTree>
    <p:extLst>
      <p:ext uri="{BB962C8B-B14F-4D97-AF65-F5344CB8AC3E}">
        <p14:creationId xmlns:p14="http://schemas.microsoft.com/office/powerpoint/2010/main" val="3542853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5B1C-CD91-164D-49C7-265F6635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55F9-61DC-97D1-1B23-9C4FAA6AA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8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B25E0D-ABDD-B12B-B0C2-5A3AED9C3E5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603CAB1-7EEE-03F9-CF5A-1434F543D1AA}"/>
              </a:ext>
            </a:extLst>
          </p:cNvPr>
          <p:cNvSpPr txBox="1"/>
          <p:nvPr/>
        </p:nvSpPr>
        <p:spPr>
          <a:xfrm>
            <a:off x="0" y="646331"/>
            <a:ext cx="12108700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sum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a, 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b) {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("Result: %d\n", a + b); }</a:t>
            </a:r>
          </a:p>
          <a:p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sub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a, 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b) {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("Result: %d\n", a - b); }</a:t>
            </a:r>
          </a:p>
          <a:p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multi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a, 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b) {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("Result: %d\n", a * b); }</a:t>
            </a:r>
          </a:p>
          <a:p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choice, x = 6, y = 4;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(*operations[3])(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225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 = { sum, sub, multi };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("x = %d, y = %d\n\n", x, y);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("Choose an operation:\n");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("0: Add\n1: Subtract\n2: Multiply\n");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&amp;choice);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(choice </a:t>
            </a:r>
            <a:r>
              <a:rPr lang="en-US" sz="2250" spc="30" dirty="0">
                <a:latin typeface="Helvetica" pitchFamily="2" charset="0"/>
                <a:ea typeface="Fira Code" panose="020B0809050000020004" pitchFamily="49" charset="0"/>
                <a:cs typeface="Fira Code" panose="020B0809050000020004" pitchFamily="49" charset="0"/>
              </a:rPr>
              <a:t>&gt;=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 &amp;&amp; choice &lt; 3) {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operations[choice](x, y);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} </a:t>
            </a:r>
            <a:r>
              <a:rPr lang="en-US" sz="2250" spc="3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else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{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25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("Invalid choice\n");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}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250" spc="3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r>
              <a:rPr lang="en-US" sz="225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77018-A336-C977-A34F-0277D6FBD8AB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Function Pointers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16CF1-9B57-25C5-F222-14C5051D53BA}"/>
              </a:ext>
            </a:extLst>
          </p:cNvPr>
          <p:cNvSpPr txBox="1"/>
          <p:nvPr/>
        </p:nvSpPr>
        <p:spPr>
          <a:xfrm>
            <a:off x="8942849" y="3505407"/>
            <a:ext cx="37211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Output:</a:t>
            </a:r>
          </a:p>
          <a:p>
            <a:r>
              <a:rPr lang="en-US" sz="2400" dirty="0">
                <a:latin typeface="Helvetica" pitchFamily="2" charset="0"/>
              </a:rPr>
              <a:t>x = 6, y = 4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latin typeface="Helvetica" pitchFamily="2" charset="0"/>
              </a:rPr>
              <a:t>Choose an operation:</a:t>
            </a:r>
          </a:p>
          <a:p>
            <a:r>
              <a:rPr lang="en-US" sz="2400" dirty="0">
                <a:latin typeface="Helvetica" pitchFamily="2" charset="0"/>
              </a:rPr>
              <a:t>0: Add</a:t>
            </a:r>
          </a:p>
          <a:p>
            <a:r>
              <a:rPr lang="en-US" sz="2400" dirty="0">
                <a:latin typeface="Helvetica" pitchFamily="2" charset="0"/>
              </a:rPr>
              <a:t>1: Subtract</a:t>
            </a:r>
          </a:p>
          <a:p>
            <a:r>
              <a:rPr lang="en-US" sz="2400" dirty="0">
                <a:latin typeface="Helvetica" pitchFamily="2" charset="0"/>
              </a:rPr>
              <a:t>2: Multiply</a:t>
            </a:r>
          </a:p>
          <a:p>
            <a:r>
              <a:rPr lang="en-US" sz="2400" dirty="0">
                <a:latin typeface="Helvetica" pitchFamily="2" charset="0"/>
              </a:rPr>
              <a:t>{?}</a:t>
            </a:r>
          </a:p>
        </p:txBody>
      </p:sp>
    </p:spTree>
    <p:extLst>
      <p:ext uri="{BB962C8B-B14F-4D97-AF65-F5344CB8AC3E}">
        <p14:creationId xmlns:p14="http://schemas.microsoft.com/office/powerpoint/2010/main" val="1993824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7F99-95B7-EEE0-F0B0-0B533E040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BCF4D-1E47-8A3E-688C-C0BDF2C7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9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2DED9A-7DC3-E57D-9DA8-31D60A93BB93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68BB84-3F19-9350-FFC9-CB955A177451}"/>
              </a:ext>
            </a:extLst>
          </p:cNvPr>
          <p:cNvSpPr txBox="1"/>
          <p:nvPr/>
        </p:nvSpPr>
        <p:spPr>
          <a:xfrm>
            <a:off x="784601" y="1386553"/>
            <a:ext cx="10622798" cy="37702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callback function is a function that is passed as an argument to another function.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 receiving function can then run it (call it back) whenever it needs to.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This is a powerful way to make your code flexible and reusable - you can decide which function should run, without changing the main logic.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9DA51-336A-4030-83C1-A1785224C5B9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Callback Functions</a:t>
            </a:r>
          </a:p>
        </p:txBody>
      </p:sp>
    </p:spTree>
    <p:extLst>
      <p:ext uri="{BB962C8B-B14F-4D97-AF65-F5344CB8AC3E}">
        <p14:creationId xmlns:p14="http://schemas.microsoft.com/office/powerpoint/2010/main" val="761227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5CEA-5542-C551-13AA-A971A761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07CF2-7A80-4E9F-3214-5A1A71E0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10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0952A7-9C92-A163-1FEC-D9EC9FF8B703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5BACD50-F442-8759-ECA2-2251E2853FB3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Callback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B4DC3-135D-A247-6E77-ACEAF3CD95FD}"/>
              </a:ext>
            </a:extLst>
          </p:cNvPr>
          <p:cNvSpPr txBox="1"/>
          <p:nvPr/>
        </p:nvSpPr>
        <p:spPr>
          <a:xfrm>
            <a:off x="83300" y="803647"/>
            <a:ext cx="121087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400" spc="30" dirty="0" err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sayHi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("Hi from callback!\n");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 </a:t>
            </a:r>
            <a:r>
              <a:rPr lang="en-US" sz="2400" spc="3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Normal Function</a:t>
            </a:r>
          </a:p>
          <a:p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400" spc="30" dirty="0" err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runCallback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(void (*callback)()) {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("Before callback...\n");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callback();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("After callback.\n");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 </a:t>
            </a:r>
            <a:r>
              <a:rPr lang="en-US" sz="2400" spc="3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Receiver of a function pointer</a:t>
            </a:r>
          </a:p>
          <a:p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runCallback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sayHi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 </a:t>
            </a:r>
            <a:r>
              <a:rPr lang="en-US" sz="2400" spc="3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runs itself and calls </a:t>
            </a:r>
            <a:r>
              <a:rPr lang="en-US" sz="2400" spc="3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sayHi</a:t>
            </a:r>
            <a:endParaRPr lang="en-US" sz="2400" spc="3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4A7DD-3834-A1FD-FF65-49052F6B0792}"/>
              </a:ext>
            </a:extLst>
          </p:cNvPr>
          <p:cNvSpPr txBox="1"/>
          <p:nvPr/>
        </p:nvSpPr>
        <p:spPr>
          <a:xfrm>
            <a:off x="8246806" y="2459504"/>
            <a:ext cx="3721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Output: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latin typeface="Helvetica" pitchFamily="2" charset="0"/>
              </a:rPr>
              <a:t>Before callback...</a:t>
            </a:r>
          </a:p>
          <a:p>
            <a:r>
              <a:rPr lang="en-US" sz="2400" dirty="0">
                <a:latin typeface="Helvetica" pitchFamily="2" charset="0"/>
              </a:rPr>
              <a:t>Hi from callback!</a:t>
            </a:r>
          </a:p>
          <a:p>
            <a:r>
              <a:rPr lang="en-US" sz="2400" dirty="0">
                <a:latin typeface="Helvetica" pitchFamily="2" charset="0"/>
              </a:rPr>
              <a:t>After callback.</a:t>
            </a:r>
          </a:p>
        </p:txBody>
      </p:sp>
    </p:spTree>
    <p:extLst>
      <p:ext uri="{BB962C8B-B14F-4D97-AF65-F5344CB8AC3E}">
        <p14:creationId xmlns:p14="http://schemas.microsoft.com/office/powerpoint/2010/main" val="3520500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021E-3774-6F32-2B89-1C666A42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E3B02-77F5-7288-91C0-F23F2AA5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11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68F7BE-11F0-7144-3770-46DE505AE909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24BA90B-8C14-EE22-9BA0-2B46B19F51AD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Callback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C7698-16ED-169E-B4D5-C6A5FFD0B212}"/>
              </a:ext>
            </a:extLst>
          </p:cNvPr>
          <p:cNvSpPr txBox="1"/>
          <p:nvPr/>
        </p:nvSpPr>
        <p:spPr>
          <a:xfrm>
            <a:off x="83300" y="1768747"/>
            <a:ext cx="121087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400" spc="30" dirty="0" err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addNum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a, </a:t>
            </a:r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b) {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("Sum is: %d\n", a + b);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400" spc="30" dirty="0" err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calcu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(*callback)(</a:t>
            </a:r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), </a:t>
            </a:r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x, </a:t>
            </a:r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y) {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callback(x, y);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r>
              <a:rPr lang="en-US" sz="2400" spc="3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calcu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2400" spc="3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addNum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10, 15);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400" spc="3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r>
              <a:rPr lang="en-US" sz="2400" spc="3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  <a:endParaRPr lang="en-US" sz="2400" spc="3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AA2CB1-8C01-018D-81DF-C76BBFC4C17F}"/>
              </a:ext>
            </a:extLst>
          </p:cNvPr>
          <p:cNvSpPr txBox="1"/>
          <p:nvPr/>
        </p:nvSpPr>
        <p:spPr>
          <a:xfrm>
            <a:off x="7902676" y="4150652"/>
            <a:ext cx="3721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Output: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latin typeface="Helvetica" pitchFamily="2" charset="0"/>
              </a:rPr>
              <a:t>Sum is: 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132D3-9982-BFCF-AD24-072177774A13}"/>
              </a:ext>
            </a:extLst>
          </p:cNvPr>
          <p:cNvSpPr txBox="1"/>
          <p:nvPr/>
        </p:nvSpPr>
        <p:spPr>
          <a:xfrm>
            <a:off x="784601" y="658285"/>
            <a:ext cx="1062279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Passing functions that take parameters is also possible -  just make sure the function pointer type matches. </a:t>
            </a:r>
          </a:p>
        </p:txBody>
      </p:sp>
    </p:spTree>
    <p:extLst>
      <p:ext uri="{BB962C8B-B14F-4D97-AF65-F5344CB8AC3E}">
        <p14:creationId xmlns:p14="http://schemas.microsoft.com/office/powerpoint/2010/main" val="2917648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F562-031B-8F16-C0D9-8453F1E3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EF30-DF09-4552-CF4F-48D15A17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12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94CFAA-29C4-E136-7731-1A84E511DC4D}"/>
              </a:ext>
            </a:extLst>
          </p:cNvPr>
          <p:cNvCxnSpPr>
            <a:cxnSpLocks/>
          </p:cNvCxnSpPr>
          <p:nvPr/>
        </p:nvCxnSpPr>
        <p:spPr>
          <a:xfrm>
            <a:off x="1405689" y="-405278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895496-CE9B-A3D2-3D01-FF21FB100921}"/>
              </a:ext>
            </a:extLst>
          </p:cNvPr>
          <p:cNvSpPr txBox="1"/>
          <p:nvPr/>
        </p:nvSpPr>
        <p:spPr>
          <a:xfrm>
            <a:off x="1770134" y="1454014"/>
            <a:ext cx="8651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time and attention!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1BDB2-8E29-1908-8946-D8ECBA907EBF}"/>
              </a:ext>
            </a:extLst>
          </p:cNvPr>
          <p:cNvSpPr txBox="1"/>
          <p:nvPr/>
        </p:nvSpPr>
        <p:spPr>
          <a:xfrm>
            <a:off x="4037582" y="4415674"/>
            <a:ext cx="41168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https://www.w3schools.com/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https://www.geeksforgeeks.org/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56F52-BD99-3EA3-BD0B-748E523C4750}"/>
              </a:ext>
            </a:extLst>
          </p:cNvPr>
          <p:cNvSpPr txBox="1"/>
          <p:nvPr/>
        </p:nvSpPr>
        <p:spPr>
          <a:xfrm>
            <a:off x="4256394" y="2767281"/>
            <a:ext cx="36792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Contact:</a:t>
            </a:r>
          </a:p>
          <a:p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cprogramming666@gmail.com</a:t>
            </a:r>
            <a:endParaRPr lang="en-US" sz="20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Subject: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06305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1085</Words>
  <Application>Microsoft Office PowerPoint</Application>
  <PresentationFormat>Widescreen</PresentationFormat>
  <Paragraphs>150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Fira Code</vt:lpstr>
      <vt:lpstr>Fira Code Retina</vt:lpstr>
      <vt:lpstr>Helvetica</vt:lpstr>
      <vt:lpstr>Verdana Pro</vt:lpstr>
      <vt:lpstr>Verdana Pro Black</vt:lpstr>
      <vt:lpstr>Office Theme</vt:lpstr>
      <vt:lpstr>Advanced  C Programming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Montazeri Amirmohammad</dc:creator>
  <cp:lastModifiedBy>Montazeri Amirmohammad</cp:lastModifiedBy>
  <cp:revision>43</cp:revision>
  <dcterms:created xsi:type="dcterms:W3CDTF">2026-03-10T03:42:47Z</dcterms:created>
  <dcterms:modified xsi:type="dcterms:W3CDTF">2026-05-28T07:41:44Z</dcterms:modified>
</cp:coreProperties>
</file>